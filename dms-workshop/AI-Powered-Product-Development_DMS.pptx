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2103120"/>
            <a:ext cx="5120640" cy="5120640"/>
          </a:xfrm>
          <a:prstGeom prst="ellipse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3566160"/>
            <a:ext cx="4206240" cy="4206240"/>
          </a:xfrm>
          <a:prstGeom prst="ellipse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INDUSTRIAL DEVOPS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1554480" cy="6400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896112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AI-Powered Product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60520"/>
            <a:ext cx="804672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200" b="0" i="0">
                <a:solidFill>
                  <a:srgbClr val="D8E6F7"/>
                </a:solidFill>
                <a:latin typeface="Arial"/>
              </a:rPr>
              <a:t>Building Better Automotive Products with Smaller, Faster, Cross-Functional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91440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Arial"/>
              </a:rPr>
              <a:t>A 90-minute hands-on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Why we're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 tired driver drifts toward the lane line. Could the car notice — and help?</a:t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Today, building that one feature takes many teams and many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Workshop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67127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67127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Faster iteration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13048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Better traceability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813048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Outcome-focused delivery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does your organization spend the most engineering effort?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Automotive development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Specialized functions create handoffs, delays, and rework.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The cost of handoffs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Every handoff between specialized functions adds delay and a chance for rework.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1604772" cy="96012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Requirements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2284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3383280"/>
            <a:ext cx="1604772" cy="960120"/>
          </a:xfrm>
          <a:prstGeom prst="roundRect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8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1688" y="3383280"/>
            <a:ext cx="1604772" cy="960120"/>
          </a:xfrm>
          <a:prstGeom prst="roundRect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93892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2492" y="3383280"/>
            <a:ext cx="1604772" cy="960120"/>
          </a:xfrm>
          <a:prstGeom prst="roundRect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Development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54696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3296" y="3383280"/>
            <a:ext cx="1604772" cy="960120"/>
          </a:xfrm>
          <a:prstGeom prst="roundRect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15499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4100" y="3383280"/>
            <a:ext cx="1604772" cy="96012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WORD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What slows product delivery the most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Why specialization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Risk reduction, compliance, and deep expertise — good reasons that no longer scale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AI as capability amplification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AI makes expertise available at the point of need — it augments specialists, not replaces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Future-state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A small, cross-functional team does what used to need six.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Product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383280"/>
            <a:ext cx="2926080" cy="11887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1B1B1B"/>
                </a:solidFill>
                <a:latin typeface="Arial"/>
              </a:rPr>
              <a:t>AI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6070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One small, cross-functional product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2103120"/>
            <a:ext cx="5120640" cy="5120640"/>
          </a:xfrm>
          <a:prstGeom prst="ellipse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3566160"/>
            <a:ext cx="4206240" cy="4206240"/>
          </a:xfrm>
          <a:prstGeom prst="ellipse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INDUSTRIAL DEVOPS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THE LIVE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82296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46304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914400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Driver Monitoring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850392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D8E6F7"/>
                </a:solidFill>
                <a:latin typeface="Arial"/>
              </a:rPr>
              <a:t>Detect drowsy, distracted, or medical-emergency states — and respond safely.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828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D8E6F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Customer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Protect a tired or distracted driver — without constant false alarms.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1 —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Generate stakeholder needs, requirements, constraints, and acceptance criteria.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2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From sensing to a safe response — the system in one 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535174" cy="109728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Sensors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(camera / IR)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2686" y="3831335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1286" y="3383280"/>
            <a:ext cx="2535174" cy="1097280"/>
          </a:xfrm>
          <a:prstGeom prst="roundRect">
            <a:avLst/>
          </a:prstGeom>
          <a:solidFill>
            <a:srgbClr val="206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AI Perception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93892" y="3831335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2492" y="3383280"/>
            <a:ext cx="2535174" cy="1097280"/>
          </a:xfrm>
          <a:prstGeom prst="roundRect">
            <a:avLst/>
          </a:prstGeom>
          <a:solidFill>
            <a:srgbClr val="297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Decision Logic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85098" y="3831335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13698" y="3383280"/>
            <a:ext cx="2535174" cy="109728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HMI + Vehicle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3 — Model (SysML v2)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 structured, readable design that traces back to the requirements.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4 — Tests &amp; traceability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Functional, edge, and negative test cases — plus a requirements-to-test matrix.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Which SDLC activity benefited most from AI so far?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5–6 — Implementation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Prompts 5–6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Detect-assess-respond logic, then a pass/fail review against the requirements.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Step 7 —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OTA rollout, shadow mode, monitoring, and rollback.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The digital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One connected, auditable trail — created by a single team in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1604772" cy="96012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Need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2284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3383280"/>
            <a:ext cx="1604772" cy="960120"/>
          </a:xfrm>
          <a:prstGeom prst="roundRect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Requirement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8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61688" y="3383280"/>
            <a:ext cx="1604772" cy="960120"/>
          </a:xfrm>
          <a:prstGeom prst="roundRect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93892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2492" y="3383280"/>
            <a:ext cx="1604772" cy="960120"/>
          </a:xfrm>
          <a:prstGeom prst="roundRect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54696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3296" y="3383280"/>
            <a:ext cx="1604772" cy="960120"/>
          </a:xfrm>
          <a:prstGeom prst="roundRect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15499" y="3762756"/>
            <a:ext cx="201168" cy="201168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4100" y="3383280"/>
            <a:ext cx="1604772" cy="96012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Traditional vs. AI-enabled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256E8E"/>
                </a:solidFill>
                <a:latin typeface="Arial"/>
              </a:rPr>
              <a:t>Traditional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423160"/>
            <a:ext cx="8229600" cy="77724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Months — sequential handoffs across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Arial"/>
              </a:rPr>
              <a:t>AI-Enabled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886200"/>
            <a:ext cx="2377440" cy="7772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1B1B1B"/>
                </a:solidFill>
                <a:latin typeface="Arial"/>
              </a:rPr>
              <a:t>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931920"/>
            <a:ext cx="548640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— one small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Same rigor. A fraction of the calendar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humans stayed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Confidence thresholds · safety aggressiveness · bias checks · accountability.</a:t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AI assisted. People decided.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would you pilot AI first?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Future operating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92807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Outcome-oriented product teams, with specialists providing governance, standards, reviews, and exception handling.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67127"/>
            <a:ext cx="3383280" cy="146304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67127"/>
            <a:ext cx="3383280" cy="1463040"/>
          </a:xfrm>
          <a:prstGeom prst="roundRect">
            <a:avLst/>
          </a:prstGeom>
          <a:solidFill>
            <a:srgbClr val="246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Faster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167127"/>
            <a:ext cx="3383280" cy="146304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Better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95927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 i="0">
                <a:solidFill>
                  <a:srgbClr val="1B1B1B"/>
                </a:solidFill>
                <a:latin typeface="Arial"/>
              </a:rPr>
              <a:t>Humans remain accountable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2103120"/>
            <a:ext cx="5120640" cy="5120640"/>
          </a:xfrm>
          <a:prstGeom prst="ellipse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3566160"/>
            <a:ext cx="4206240" cy="4206240"/>
          </a:xfrm>
          <a:prstGeom prst="ellipse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INDUSTRIAL DEVOPS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POLL 5  · 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82296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Arial"/>
              </a:rPr>
              <a:t>ACT 5 · CLOSING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46304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914400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What is the biggest opportunity?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850392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D8E6F7"/>
                </a:solidFill>
                <a:latin typeface="Arial"/>
              </a:rPr>
              <a:t>Closing Mentimeter poll, then open Q&amp;A.  Join at menti.com.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828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D8E6F7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