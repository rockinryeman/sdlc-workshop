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Prompt 1, prime the chat once:</a:t>
            </a:r>
          </a:p>
          <a:p>
            <a:r>
              <a:t>"We're running a live workshop. Keep each answer concise and skimmable — bullets over prose."</a:t>
            </a:r>
          </a:p>
          <a:p/>
          <a:p>
            <a:r>
              <a:t>PROMPT 1 — Requirements  (paste into the AI live)</a:t>
            </a:r>
          </a:p>
          <a:p/>
          <a:p>
            <a:r>
              <a:t>You are a senior automotive systems engineer. We are designing a Driver Monitoring System (DMS) that detects when a driver is drowsy, distracted, or experiencing a medical emergency, and responds appropriately. Generate:</a:t>
            </a:r>
          </a:p>
          <a:p>
            <a:r>
              <a:t>- Stakeholder needs</a:t>
            </a:r>
          </a:p>
          <a:p>
            <a:r>
              <a:t>- Functional requirements</a:t>
            </a:r>
          </a:p>
          <a:p>
            <a:r>
              <a:t>- Non-functional requirements (latency, accuracy, privacy)</a:t>
            </a:r>
          </a:p>
          <a:p>
            <a:r>
              <a:t>- Constraints</a:t>
            </a:r>
          </a:p>
          <a:p>
            <a:r>
              <a:t>- Assumptions</a:t>
            </a:r>
          </a:p>
          <a:p>
            <a:r>
              <a:t>- Acceptance criteria</a:t>
            </a:r>
          </a:p>
          <a:p>
            <a:r>
              <a:t>Format the output as a requirements specification.</a:t>
            </a:r>
          </a:p>
          <a:p/>
          <a:p>
            <a:r>
              <a:t>ASK THE ROOM: What's missing? What would you challenge?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2 — Architecture &amp; Design</a:t>
            </a:r>
          </a:p>
          <a:p/>
          <a:p>
            <a:r>
              <a:t>Using the approved requirements, create a concise architecture description including:</a:t>
            </a:r>
          </a:p>
          <a:p>
            <a:r>
              <a:t>- System context diagram (described in text)</a:t>
            </a:r>
          </a:p>
          <a:p>
            <a:r>
              <a:t>- Major components (sensors, perception/AI, decision logic, HMI, vehicle interface)</a:t>
            </a:r>
          </a:p>
          <a:p>
            <a:r>
              <a:t>- Interfaces and data flows</a:t>
            </a:r>
          </a:p>
          <a:p>
            <a:r>
              <a:t>- Failure modes</a:t>
            </a:r>
          </a:p>
          <a:p>
            <a:r>
              <a:t>- Safety considerations</a:t>
            </a:r>
          </a:p>
          <a:p>
            <a:r>
              <a:t>- Privacy and cybersecurity considerations</a:t>
            </a:r>
          </a:p>
          <a:p/>
          <a:p>
            <a:r>
              <a:t>ASK THE ROOM: Where could this go wrong, and how would the system stay safe?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3 — SysML v2 Text Model</a:t>
            </a:r>
          </a:p>
          <a:p/>
          <a:p>
            <a:r>
              <a:t>Using the architecture, generate a simple SysML v2 textual model including:</a:t>
            </a:r>
          </a:p>
          <a:p>
            <a:r>
              <a:t>- Requirements</a:t>
            </a:r>
          </a:p>
          <a:p>
            <a:r>
              <a:t>- Actions/functions (e.g., DetectDrowsiness, AssessConfidence, TriggerResponse)</a:t>
            </a:r>
          </a:p>
          <a:p>
            <a:r>
              <a:t>- Interfaces/flows</a:t>
            </a:r>
          </a:p>
          <a:p>
            <a:r>
              <a:t>- Major system elements</a:t>
            </a:r>
          </a:p>
          <a:p>
            <a:r>
              <a:t>Focus on readability, not tool-specific correctness.</a:t>
            </a:r>
          </a:p>
          <a:p/>
          <a:p>
            <a:r>
              <a:t>ASK THE ROOM: This is just a structured way to write the design so a person AND a machine can read it — note how it traces back to the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4 — Test Development</a:t>
            </a:r>
          </a:p>
          <a:p/>
          <a:p>
            <a:r>
              <a:t>Create:</a:t>
            </a:r>
          </a:p>
          <a:p>
            <a:r>
              <a:t>- Verification strategy</a:t>
            </a:r>
          </a:p>
          <a:p>
            <a:r>
              <a:t>- Functional test cases</a:t>
            </a:r>
          </a:p>
          <a:p>
            <a:r>
              <a:t>- Edge case test cases (sunglasses, darkness, head turned, passenger interference)</a:t>
            </a:r>
          </a:p>
          <a:p>
            <a:r>
              <a:t>- Negative test cases (false-positive drowsiness)</a:t>
            </a:r>
          </a:p>
          <a:p>
            <a:r>
              <a:t>- A requirements-to-test traceability matrix</a:t>
            </a:r>
          </a:p>
          <a:p>
            <a:r>
              <a:t>Include objective pass/fail criteria.</a:t>
            </a:r>
          </a:p>
          <a:p/>
          <a:p>
            <a:r>
              <a:t>ASK THE ROOM: Which of these tests would you most want to see pass before shipping?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5 — Implementation Approach</a:t>
            </a:r>
          </a:p>
          <a:p/>
          <a:p>
            <a:r>
              <a:t>Generate:</a:t>
            </a:r>
          </a:p>
          <a:p>
            <a:r>
              <a:t>- High-level implementation approach</a:t>
            </a:r>
          </a:p>
          <a:p>
            <a:r>
              <a:t>- Pseudocode for the detect-assess-respond loop</a:t>
            </a:r>
          </a:p>
          <a:p>
            <a:r>
              <a:t>- Logic flow</a:t>
            </a:r>
          </a:p>
          <a:p>
            <a:r>
              <a:t>- Data processing steps</a:t>
            </a:r>
          </a:p>
          <a:p>
            <a:r>
              <a:t>- Assumptions</a:t>
            </a:r>
          </a:p>
          <a:p>
            <a:r>
              <a:t>Explain how the solution satisfies the requirements.</a:t>
            </a:r>
          </a:p>
          <a:p/>
          <a:p>
            <a:r>
              <a:t>ASK: Notice we went from idea to logic with no separate dev-team handoff.</a:t>
            </a:r>
          </a:p>
          <a:p/>
          <a:p>
            <a:r>
              <a:t>----------</a:t>
            </a:r>
          </a:p>
          <a:p/>
          <a:p>
            <a:r>
              <a:t>PROMPT 6 — Verification Review</a:t>
            </a:r>
          </a:p>
          <a:p/>
          <a:p>
            <a:r>
              <a:t>Review the proposed implementation. Identify:</a:t>
            </a:r>
          </a:p>
          <a:p>
            <a:r>
              <a:t>- Which requirements are satisfied</a:t>
            </a:r>
          </a:p>
          <a:p>
            <a:r>
              <a:t>- Which tests would pass</a:t>
            </a:r>
          </a:p>
          <a:p>
            <a:r>
              <a:t>- Potential defects</a:t>
            </a:r>
          </a:p>
          <a:p>
            <a:r>
              <a:t>- Risks (false alarms and missed detections)</a:t>
            </a:r>
          </a:p>
          <a:p>
            <a:r>
              <a:t>- Recommended improvements</a:t>
            </a:r>
          </a:p>
          <a:p>
            <a:r>
              <a:t>Provide a pass/fail assessment.</a:t>
            </a:r>
          </a:p>
          <a:p/>
          <a:p>
            <a:r>
              <a:t>ASK THE ROOM: Where does human expertise still have to make the final call?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7 — Deployment Planning</a:t>
            </a:r>
          </a:p>
          <a:p/>
          <a:p>
            <a:r>
              <a:t>Create:</a:t>
            </a:r>
          </a:p>
          <a:p>
            <a:r>
              <a:t>- OTA deployment plan</a:t>
            </a:r>
          </a:p>
          <a:p>
            <a:r>
              <a:t>- Rollback strategy</a:t>
            </a:r>
          </a:p>
          <a:p>
            <a:r>
              <a:t>- Monitoring metrics (detection accuracy, false-alarm rate, driver trust signals)</a:t>
            </a:r>
          </a:p>
          <a:p>
            <a:r>
              <a:t>- Release notes</a:t>
            </a:r>
          </a:p>
          <a:p>
            <a:r>
              <a:t>- Customer impact assessment</a:t>
            </a:r>
          </a:p>
          <a:p>
            <a:r>
              <a:t>- Success criteria after deployment</a:t>
            </a:r>
          </a:p>
          <a:p/>
          <a:p>
            <a:r>
              <a:t>ASK THE ROOM: We just reached a deployment plan. How many teams would this normally take?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7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2103120"/>
            <a:ext cx="5120640" cy="5120640"/>
          </a:xfrm>
          <a:prstGeom prst="ellipse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3566160"/>
            <a:ext cx="4206240" cy="4206240"/>
          </a:xfrm>
          <a:prstGeom prst="ellipse">
            <a:avLst/>
          </a:prstGeom>
          <a:solidFill>
            <a:srgbClr val="328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INDUSTRIAL DEVOPS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554480" cy="6400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896112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AI-Powered Product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804672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i="0">
                <a:solidFill>
                  <a:srgbClr val="D8E6F7"/>
                </a:solidFill>
                <a:latin typeface="Arial"/>
              </a:rPr>
              <a:t>Building Better Automotive Products with Smaller, Faster, Cross-Functional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9144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  <a:latin typeface="Arial"/>
              </a:rPr>
              <a:t>A 90-minute hands-on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1 · WHY PRODUCT DEVELOPMENT IS SLOW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Why we're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A tired driver drifts toward the lane line. Could the car notice — and help?</a:t>
            </a:r>
          </a:p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/>
            </a:r>
          </a:p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Today, building that one feature takes many teams and many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1 · WHY PRODUCT DEVELOPMENT IS SLOW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Workshop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67127"/>
            <a:ext cx="5212080" cy="11887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200" b="1" i="0">
                <a:solidFill>
                  <a:srgbClr val="256E8E"/>
                </a:solidFill>
                <a:latin typeface="Arial"/>
              </a:rPr>
              <a:t>Smaller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67127"/>
            <a:ext cx="5212080" cy="11887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200" b="1" i="0">
                <a:solidFill>
                  <a:srgbClr val="256E8E"/>
                </a:solidFill>
                <a:latin typeface="Arial"/>
              </a:rPr>
              <a:t>Faster iteration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5212080" cy="11887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200" b="1" i="0">
                <a:solidFill>
                  <a:srgbClr val="256E8E"/>
                </a:solidFill>
                <a:latin typeface="Arial"/>
              </a:rPr>
              <a:t>Better 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813048"/>
            <a:ext cx="5212080" cy="11887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200" b="1" i="0">
                <a:solidFill>
                  <a:srgbClr val="256E8E"/>
                </a:solidFill>
                <a:latin typeface="Arial"/>
              </a:rPr>
              <a:t>Outcome-focused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3657600" cy="54864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1B1B1B"/>
                </a:solidFill>
                <a:latin typeface="Arial"/>
              </a:rPr>
              <a:t>▶  MENTIMETER  ·  POLL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058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MULTIPLE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955279" cy="2377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Where does your organization spend the most engineering effort?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2286000"/>
            <a:ext cx="21031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QR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join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8229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0" i="0">
                <a:solidFill>
                  <a:srgbClr val="1B1B1B"/>
                </a:solidFill>
                <a:latin typeface="Arial"/>
              </a:rPr>
              <a:t>Join at menti.com — enter the code shown on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1 · WHY PRODUCT DEVELOPMENT IS SLOW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Automotive development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Specialized functions create handoffs, delays, and rework.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1 · WHY PRODUCT DEVELOPMENT IS SLOW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The cost of handoffs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i="0">
                <a:solidFill>
                  <a:srgbClr val="1B1B1B"/>
                </a:solidFill>
                <a:latin typeface="Arial"/>
              </a:rPr>
              <a:t>Every handoff between specialized functions adds delay and a chance for rework.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1604772" cy="960120"/>
          </a:xfrm>
          <a:prstGeom prst="roundRect">
            <a:avLst/>
          </a:prstGeom>
          <a:solidFill>
            <a:srgbClr val="17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Requirements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72284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00884" y="3383280"/>
            <a:ext cx="1604772" cy="960120"/>
          </a:xfrm>
          <a:prstGeom prst="roundRect">
            <a:avLst/>
          </a:prstGeom>
          <a:solidFill>
            <a:srgbClr val="1C5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Systems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8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1688" y="3383280"/>
            <a:ext cx="1604772" cy="960120"/>
          </a:xfrm>
          <a:prstGeom prst="roundRect">
            <a:avLst/>
          </a:prstGeom>
          <a:solidFill>
            <a:srgbClr val="21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93892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22492" y="3383280"/>
            <a:ext cx="1604772" cy="960120"/>
          </a:xfrm>
          <a:prstGeom prst="roundRect">
            <a:avLst/>
          </a:prstGeom>
          <a:solidFill>
            <a:srgbClr val="277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Development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54696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83296" y="3383280"/>
            <a:ext cx="1604772" cy="960120"/>
          </a:xfrm>
          <a:prstGeom prst="roundRect">
            <a:avLst/>
          </a:prstGeom>
          <a:solidFill>
            <a:srgbClr val="2C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15499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44100" y="3383280"/>
            <a:ext cx="1604772" cy="960120"/>
          </a:xfrm>
          <a:prstGeom prst="roundRect">
            <a:avLst/>
          </a:prstGeom>
          <a:solidFill>
            <a:srgbClr val="328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Release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3657600" cy="54864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1B1B1B"/>
                </a:solidFill>
                <a:latin typeface="Arial"/>
              </a:rPr>
              <a:t>▶  MENTIMETER  ·  POLL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058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WORD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955279" cy="2377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What slows product delivery the most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2286000"/>
            <a:ext cx="21031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QR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join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8229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0" i="0">
                <a:solidFill>
                  <a:srgbClr val="1B1B1B"/>
                </a:solidFill>
                <a:latin typeface="Arial"/>
              </a:rPr>
              <a:t>Join at menti.com — enter the code shown on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2 · WHAT AI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Why specialization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Risk reduction, compliance, and deep expertise — good reasons that no longer scale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2 · WHAT AI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AI as capability amplification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AI makes expertise available at the point of need — it augments specialists, not replaces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2 · WHAT AI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Future-state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i="0">
                <a:solidFill>
                  <a:srgbClr val="1B1B1B"/>
                </a:solidFill>
                <a:latin typeface="Arial"/>
              </a:rPr>
              <a:t>A small, cross-functional team does what used to need six.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383280"/>
            <a:ext cx="2926080" cy="1188720"/>
          </a:xfrm>
          <a:prstGeom prst="round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Product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383280"/>
            <a:ext cx="777240" cy="1188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256E8E"/>
                </a:solidFill>
                <a:latin typeface="Arial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3383280"/>
            <a:ext cx="2926080" cy="1188720"/>
          </a:xfrm>
          <a:prstGeom prst="round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383280"/>
            <a:ext cx="777240" cy="1188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000" b="1" i="0">
                <a:solidFill>
                  <a:srgbClr val="256E8E"/>
                </a:solidFill>
                <a:latin typeface="Arial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383280"/>
            <a:ext cx="2926080" cy="11887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000" b="1" i="0">
                <a:solidFill>
                  <a:srgbClr val="1B1B1B"/>
                </a:solidFill>
                <a:latin typeface="Arial"/>
              </a:rPr>
              <a:t>AI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6070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Arial"/>
              </a:rPr>
              <a:t>One small, cross-functional product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7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2103120"/>
            <a:ext cx="5120640" cy="5120640"/>
          </a:xfrm>
          <a:prstGeom prst="ellipse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3566160"/>
            <a:ext cx="4206240" cy="4206240"/>
          </a:xfrm>
          <a:prstGeom prst="ellipse">
            <a:avLst/>
          </a:prstGeom>
          <a:solidFill>
            <a:srgbClr val="328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INDUSTRIAL DEVOPS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5029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1B1B1B"/>
                </a:solidFill>
                <a:latin typeface="Arial"/>
              </a:rPr>
              <a:t>THE LIVE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8229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Arial"/>
              </a:rPr>
              <a:t>ACT 3 · LIVE DMS EXERCISE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1463040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914400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Driver Monitoring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85039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D8E6F7"/>
                </a:solidFill>
                <a:latin typeface="Arial"/>
              </a:rPr>
              <a:t>Detect drowsy, distracted, or medical-emergency states — and respond safely.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828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D8E6F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3 · LIVE DMS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Customer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Protect a tired or distracted driver — without constant false alarms.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3 · LIVE DMS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Step 1 —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0" y="566928"/>
            <a:ext cx="2496312" cy="5029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▶  Run Prompt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Generate stakeholder needs, requirements, constraints, and acceptance criteria.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3 · LIVE DMS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Step 2 —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0" y="566928"/>
            <a:ext cx="2496312" cy="5029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▶  Run Prompt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106070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i="0">
                <a:solidFill>
                  <a:srgbClr val="1B1B1B"/>
                </a:solidFill>
                <a:latin typeface="Arial"/>
              </a:rPr>
              <a:t>From sensing to a safe response — the system in one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2535174" cy="1097280"/>
          </a:xfrm>
          <a:prstGeom prst="roundRect">
            <a:avLst/>
          </a:prstGeom>
          <a:solidFill>
            <a:srgbClr val="17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Sensors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(camera / IR)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2686" y="3831335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1286" y="3383280"/>
            <a:ext cx="2535174" cy="1097280"/>
          </a:xfrm>
          <a:prstGeom prst="roundRect">
            <a:avLst/>
          </a:prstGeom>
          <a:solidFill>
            <a:srgbClr val="206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AI Perception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3892" y="3831335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2492" y="3383280"/>
            <a:ext cx="2535174" cy="1097280"/>
          </a:xfrm>
          <a:prstGeom prst="roundRect">
            <a:avLst/>
          </a:prstGeom>
          <a:solidFill>
            <a:srgbClr val="297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Decision Logic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85098" y="3831335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13698" y="3383280"/>
            <a:ext cx="2535174" cy="1097280"/>
          </a:xfrm>
          <a:prstGeom prst="roundRect">
            <a:avLst/>
          </a:prstGeom>
          <a:solidFill>
            <a:srgbClr val="328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HMI + Vehicle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3 · LIVE DMS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Step 3 — Model (SysML v2)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0" y="566928"/>
            <a:ext cx="2496312" cy="5029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▶  Run Prompt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A structured, readable design that traces back to the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3 · LIVE DMS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Step 4 — Tests &amp; traceability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0" y="566928"/>
            <a:ext cx="2496312" cy="5029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▶  Run Prompt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Functional, edge, and negative test cases — plus a requirements-to-test matrix.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3657600" cy="54864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1B1B1B"/>
                </a:solidFill>
                <a:latin typeface="Arial"/>
              </a:rPr>
              <a:t>▶  MENTIMETER  ·  POLL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058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MULTIPLE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955279" cy="2377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Which SDLC activity benefited most from AI so far?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2286000"/>
            <a:ext cx="21031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QR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join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8229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0" i="0">
                <a:solidFill>
                  <a:srgbClr val="1B1B1B"/>
                </a:solidFill>
                <a:latin typeface="Arial"/>
              </a:rPr>
              <a:t>Join at menti.com — enter the code shown on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3 · LIVE DMS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Step 5–6 — Implementation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0" y="566928"/>
            <a:ext cx="2496312" cy="5029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▶  Run Prompts 5–6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Detect-assess-respond logic, then a pass/fail review against the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3 · LIVE DMS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Step 7 —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0" y="566928"/>
            <a:ext cx="2496312" cy="5029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▶  Run Prompt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OTA rollout, shadow mode, monitoring, and rollback.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4 · WHAT JUST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The digital thread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i="0">
                <a:solidFill>
                  <a:srgbClr val="1B1B1B"/>
                </a:solidFill>
                <a:latin typeface="Arial"/>
              </a:rPr>
              <a:t>One connected, auditable trail — created by a single team in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1604772" cy="960120"/>
          </a:xfrm>
          <a:prstGeom prst="roundRect">
            <a:avLst/>
          </a:prstGeom>
          <a:solidFill>
            <a:srgbClr val="17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Need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72284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00884" y="3383280"/>
            <a:ext cx="1604772" cy="960120"/>
          </a:xfrm>
          <a:prstGeom prst="roundRect">
            <a:avLst/>
          </a:prstGeom>
          <a:solidFill>
            <a:srgbClr val="1C5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Requirement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8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1688" y="3383280"/>
            <a:ext cx="1604772" cy="960120"/>
          </a:xfrm>
          <a:prstGeom prst="roundRect">
            <a:avLst/>
          </a:prstGeom>
          <a:solidFill>
            <a:srgbClr val="21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93892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22492" y="3383280"/>
            <a:ext cx="1604772" cy="960120"/>
          </a:xfrm>
          <a:prstGeom prst="roundRect">
            <a:avLst/>
          </a:prstGeom>
          <a:solidFill>
            <a:srgbClr val="277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54696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83296" y="3383280"/>
            <a:ext cx="1604772" cy="960120"/>
          </a:xfrm>
          <a:prstGeom prst="roundRect">
            <a:avLst/>
          </a:prstGeom>
          <a:solidFill>
            <a:srgbClr val="2C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15499" y="3762756"/>
            <a:ext cx="201168" cy="201168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44100" y="3383280"/>
            <a:ext cx="1604772" cy="960120"/>
          </a:xfrm>
          <a:prstGeom prst="roundRect">
            <a:avLst/>
          </a:prstGeom>
          <a:solidFill>
            <a:srgbClr val="328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4 · WHAT JUST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Traditional vs. AI-enabled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256E8E"/>
                </a:solidFill>
                <a:latin typeface="Arial"/>
              </a:rPr>
              <a:t>Traditional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423160"/>
            <a:ext cx="8229600" cy="777240"/>
          </a:xfrm>
          <a:prstGeom prst="round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Months — sequential handoffs across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  <a:latin typeface="Arial"/>
              </a:rPr>
              <a:t>AI-Enabled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3886200"/>
            <a:ext cx="2377440" cy="77724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500" b="1" i="0">
                <a:solidFill>
                  <a:srgbClr val="1B1B1B"/>
                </a:solidFill>
                <a:latin typeface="Arial"/>
              </a:rPr>
              <a:t>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3931920"/>
            <a:ext cx="54864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0" i="0">
                <a:solidFill>
                  <a:srgbClr val="1B1B1B"/>
                </a:solidFill>
                <a:latin typeface="Arial"/>
              </a:rPr>
              <a:t>— one small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6070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Arial"/>
              </a:rPr>
              <a:t>Same rigor. A fraction of the calendar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4 · WHAT JUST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Where humans stayed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Confidence thresholds · safety aggressiveness · bias checks · accountability.</a:t>
            </a:r>
          </a:p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/>
            </a:r>
          </a:p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AI assisted. People decided.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3657600" cy="54864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1B1B1B"/>
                </a:solidFill>
                <a:latin typeface="Arial"/>
              </a:rPr>
              <a:t>▶  MENTIMETER  ·  POLL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058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955279" cy="2377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Where would you pilot AI first?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2286000"/>
            <a:ext cx="21031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QR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join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8229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0" i="0">
                <a:solidFill>
                  <a:srgbClr val="1B1B1B"/>
                </a:solidFill>
                <a:latin typeface="Arial"/>
              </a:rPr>
              <a:t>Join at menti.com — enter the code shown on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5 · FUTURE-STATE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Future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106070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1B1B1B"/>
                </a:solidFill>
                <a:latin typeface="Arial"/>
              </a:rPr>
              <a:t>Outcome-oriented product teams, with specialists providing governance, standards, reviews, and exception handling.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Arial"/>
              </a:rPr>
              <a:t>ACT 5 · FUTURE-STATE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256E8E"/>
                </a:solidFill>
                <a:latin typeface="Arial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1005840" cy="4114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67127"/>
            <a:ext cx="3383280" cy="1463040"/>
          </a:xfrm>
          <a:prstGeom prst="roundRect">
            <a:avLst/>
          </a:prstGeom>
          <a:solidFill>
            <a:srgbClr val="17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Smaller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67127"/>
            <a:ext cx="3383280" cy="1463040"/>
          </a:xfrm>
          <a:prstGeom prst="roundRect">
            <a:avLst/>
          </a:prstGeom>
          <a:solidFill>
            <a:srgbClr val="24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Faster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167127"/>
            <a:ext cx="3383280" cy="1463040"/>
          </a:xfrm>
          <a:prstGeom prst="roundRect">
            <a:avLst/>
          </a:prstGeom>
          <a:solidFill>
            <a:srgbClr val="328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Better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7"/>
            <a:ext cx="106070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i="0">
                <a:solidFill>
                  <a:srgbClr val="1B1B1B"/>
                </a:solidFill>
                <a:latin typeface="Arial"/>
              </a:rPr>
              <a:t>Humans remain accountable throughout.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37376"/>
            <a:ext cx="10908792" cy="1371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Industrial DevOps Now  ·  AI-Powered Product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Mentimeter: menti.com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73952"/>
            <a:ext cx="149047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1" i="0">
                <a:solidFill>
                  <a:srgbClr val="595959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7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2103120"/>
            <a:ext cx="5120640" cy="5120640"/>
          </a:xfrm>
          <a:prstGeom prst="ellipse">
            <a:avLst/>
          </a:prstGeom>
          <a:solidFill>
            <a:srgbClr val="25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3566160"/>
            <a:ext cx="4206240" cy="4206240"/>
          </a:xfrm>
          <a:prstGeom prst="ellipse">
            <a:avLst/>
          </a:prstGeom>
          <a:solidFill>
            <a:srgbClr val="328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INDUSTRIAL DEVOPS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5029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400" b="1" i="0">
                <a:solidFill>
                  <a:srgbClr val="1B1B1B"/>
                </a:solidFill>
                <a:latin typeface="Arial"/>
              </a:rPr>
              <a:t>▶ POLL 5  · 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8229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Arial"/>
              </a:rPr>
              <a:t>ACT 5 · CLOSING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1463040" cy="5486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914400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What is the biggest opportunity?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85039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D8E6F7"/>
                </a:solidFill>
                <a:latin typeface="Arial"/>
              </a:rPr>
              <a:t>Closing Mentimeter poll, then open Q&amp;A.  Join at menti.com.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828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D8E6F7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