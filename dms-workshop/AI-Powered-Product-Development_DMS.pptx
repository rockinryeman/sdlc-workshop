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Prompt 1, prime the chat once:</a:t>
            </a:r>
          </a:p>
          <a:p>
            <a:r>
              <a:t>"We're running a live workshop. Keep each answer concise and skimmable — bullets over prose."</a:t>
            </a:r>
          </a:p>
          <a:p/>
          <a:p>
            <a:r>
              <a:t>PROMPT 1 — Requirements  (paste into the AI live)</a:t>
            </a:r>
          </a:p>
          <a:p/>
          <a:p>
            <a:r>
              <a:t>You are a senior automotive systems engineer. We are designing a Driver Monitoring System (DMS) that detects when a driver is drowsy, distracted, or experiencing a medical emergency, and responds appropriately. Generate:</a:t>
            </a:r>
          </a:p>
          <a:p>
            <a:r>
              <a:t>- Stakeholder needs</a:t>
            </a:r>
          </a:p>
          <a:p>
            <a:r>
              <a:t>- Functional requirements</a:t>
            </a:r>
          </a:p>
          <a:p>
            <a:r>
              <a:t>- Non-functional requirements (latency, accuracy, privacy)</a:t>
            </a:r>
          </a:p>
          <a:p>
            <a:r>
              <a:t>- Constraints</a:t>
            </a:r>
          </a:p>
          <a:p>
            <a:r>
              <a:t>- Assumptions</a:t>
            </a:r>
          </a:p>
          <a:p>
            <a:r>
              <a:t>- Acceptance criteria</a:t>
            </a:r>
          </a:p>
          <a:p>
            <a:r>
              <a:t>Format the output as a requirements specification.</a:t>
            </a:r>
          </a:p>
          <a:p/>
          <a:p>
            <a:r>
              <a:t>ASK THE ROOM: What's missing? What would you challenge?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2 — Architecture &amp; Design</a:t>
            </a:r>
          </a:p>
          <a:p/>
          <a:p>
            <a:r>
              <a:t>Using the approved requirements, create a concise architecture description including:</a:t>
            </a:r>
          </a:p>
          <a:p>
            <a:r>
              <a:t>- System context diagram (described in text)</a:t>
            </a:r>
          </a:p>
          <a:p>
            <a:r>
              <a:t>- Major components (sensors, perception/AI, decision logic, HMI, vehicle interface)</a:t>
            </a:r>
          </a:p>
          <a:p>
            <a:r>
              <a:t>- Interfaces and data flows</a:t>
            </a:r>
          </a:p>
          <a:p>
            <a:r>
              <a:t>- Failure modes</a:t>
            </a:r>
          </a:p>
          <a:p>
            <a:r>
              <a:t>- Safety considerations</a:t>
            </a:r>
          </a:p>
          <a:p>
            <a:r>
              <a:t>- Privacy and cybersecurity considerations</a:t>
            </a:r>
          </a:p>
          <a:p/>
          <a:p>
            <a:r>
              <a:t>ASK THE ROOM: Where could this go wrong, and how would the system stay safe?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3 — SysML v2 Text Model</a:t>
            </a:r>
          </a:p>
          <a:p/>
          <a:p>
            <a:r>
              <a:t>Using the architecture, generate a simple SysML v2 textual model including:</a:t>
            </a:r>
          </a:p>
          <a:p>
            <a:r>
              <a:t>- Requirements</a:t>
            </a:r>
          </a:p>
          <a:p>
            <a:r>
              <a:t>- Actions/functions (e.g., DetectDrowsiness, AssessConfidence, TriggerResponse)</a:t>
            </a:r>
          </a:p>
          <a:p>
            <a:r>
              <a:t>- Interfaces/flows</a:t>
            </a:r>
          </a:p>
          <a:p>
            <a:r>
              <a:t>- Major system elements</a:t>
            </a:r>
          </a:p>
          <a:p>
            <a:r>
              <a:t>Focus on readability, not tool-specific correctness.</a:t>
            </a:r>
          </a:p>
          <a:p/>
          <a:p>
            <a:r>
              <a:t>ASK THE ROOM: This is just a structured way to write the design so a person AND a machine can read it — note how it traces back to the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4 — Test Development</a:t>
            </a:r>
          </a:p>
          <a:p/>
          <a:p>
            <a:r>
              <a:t>Create:</a:t>
            </a:r>
          </a:p>
          <a:p>
            <a:r>
              <a:t>- Verification strategy</a:t>
            </a:r>
          </a:p>
          <a:p>
            <a:r>
              <a:t>- Functional test cases</a:t>
            </a:r>
          </a:p>
          <a:p>
            <a:r>
              <a:t>- Edge case test cases (sunglasses, darkness, head turned, passenger interference)</a:t>
            </a:r>
          </a:p>
          <a:p>
            <a:r>
              <a:t>- Negative test cases (false-positive drowsiness)</a:t>
            </a:r>
          </a:p>
          <a:p>
            <a:r>
              <a:t>- A requirements-to-test traceability matrix</a:t>
            </a:r>
          </a:p>
          <a:p>
            <a:r>
              <a:t>Include objective pass/fail criteria.</a:t>
            </a:r>
          </a:p>
          <a:p/>
          <a:p>
            <a:r>
              <a:t>ASK THE ROOM: Which of these tests would you most want to see pass before shipping?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5 — Implementation Approach</a:t>
            </a:r>
          </a:p>
          <a:p/>
          <a:p>
            <a:r>
              <a:t>Generate:</a:t>
            </a:r>
          </a:p>
          <a:p>
            <a:r>
              <a:t>- High-level implementation approach</a:t>
            </a:r>
          </a:p>
          <a:p>
            <a:r>
              <a:t>- Pseudocode for the detect-assess-respond loop</a:t>
            </a:r>
          </a:p>
          <a:p>
            <a:r>
              <a:t>- Logic flow</a:t>
            </a:r>
          </a:p>
          <a:p>
            <a:r>
              <a:t>- Data processing steps</a:t>
            </a:r>
          </a:p>
          <a:p>
            <a:r>
              <a:t>- Assumptions</a:t>
            </a:r>
          </a:p>
          <a:p>
            <a:r>
              <a:t>Explain how the solution satisfies the requirements.</a:t>
            </a:r>
          </a:p>
          <a:p/>
          <a:p>
            <a:r>
              <a:t>ASK: Notice we went from idea to logic with no separate dev-team handoff.</a:t>
            </a:r>
          </a:p>
          <a:p/>
          <a:p>
            <a:r>
              <a:t>----------</a:t>
            </a:r>
          </a:p>
          <a:p/>
          <a:p>
            <a:r>
              <a:t>PROMPT 6 — Verification Review</a:t>
            </a:r>
          </a:p>
          <a:p/>
          <a:p>
            <a:r>
              <a:t>Review the proposed implementation. Identify:</a:t>
            </a:r>
          </a:p>
          <a:p>
            <a:r>
              <a:t>- Which requirements are satisfied</a:t>
            </a:r>
          </a:p>
          <a:p>
            <a:r>
              <a:t>- Which tests would pass</a:t>
            </a:r>
          </a:p>
          <a:p>
            <a:r>
              <a:t>- Potential defects</a:t>
            </a:r>
          </a:p>
          <a:p>
            <a:r>
              <a:t>- Risks (false alarms and missed detections)</a:t>
            </a:r>
          </a:p>
          <a:p>
            <a:r>
              <a:t>- Recommended improvements</a:t>
            </a:r>
          </a:p>
          <a:p>
            <a:r>
              <a:t>Provide a pass/fail assessment.</a:t>
            </a:r>
          </a:p>
          <a:p/>
          <a:p>
            <a:r>
              <a:t>ASK THE ROOM: Where does human expertise still have to make the final call?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7 — Deployment Planning</a:t>
            </a:r>
          </a:p>
          <a:p/>
          <a:p>
            <a:r>
              <a:t>Create:</a:t>
            </a:r>
          </a:p>
          <a:p>
            <a:r>
              <a:t>- OTA deployment plan</a:t>
            </a:r>
          </a:p>
          <a:p>
            <a:r>
              <a:t>- Rollback strategy</a:t>
            </a:r>
          </a:p>
          <a:p>
            <a:r>
              <a:t>- Monitoring metrics (detection accuracy, false-alarm rate, driver trust signals)</a:t>
            </a:r>
          </a:p>
          <a:p>
            <a:r>
              <a:t>- Release notes</a:t>
            </a:r>
          </a:p>
          <a:p>
            <a:r>
              <a:t>- Customer impact assessment</a:t>
            </a:r>
          </a:p>
          <a:p>
            <a:r>
              <a:t>- Success criteria after deployment</a:t>
            </a:r>
          </a:p>
          <a:p/>
          <a:p>
            <a:r>
              <a:t>ASK THE ROOM: We just reached a deployment plan. How many teams would this normally take?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256E8E"/>
                </a:solidFill>
                <a:latin typeface="Arial"/>
              </a:rPr>
              <a:t>INDUSTRIAL DEVOPS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2377440"/>
            <a:ext cx="10698480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4400" b="1" i="0">
                <a:solidFill>
                  <a:srgbClr val="174C63"/>
                </a:solidFill>
                <a:latin typeface="Arial"/>
              </a:rPr>
              <a:t>AI-POWERED PRODUCT DEVELOPMENT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389120"/>
            <a:ext cx="1554480" cy="54864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617720"/>
            <a:ext cx="969264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  <a:latin typeface="Arial"/>
              </a:rPr>
              <a:t>Building Better Automotive Products with Smaller, Faster, Cross-Functional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91440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256E8E"/>
                </a:solidFill>
                <a:latin typeface="Arial"/>
              </a:rPr>
              <a:t>A 90-minute hands-on workshop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828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Arial"/>
              </a:rPr>
              <a:t>Industrial DevOps Now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WHY WE'RE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 tired driver drifts toward the lane line. Could the car notice — and help?</a:t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Today, building that one feature takes many teams and many months.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WORKSHOP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76272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Smaller teams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76272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Faster iteration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22191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Better traceability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822191"/>
            <a:ext cx="5212080" cy="118872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256E8E"/>
                </a:solidFill>
                <a:latin typeface="Arial"/>
              </a:rPr>
              <a:t>Outcome-focused delivery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MULTIPLE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Where does your organization spend the most engineering effort?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AUTOMOTIVE DEVELOPMENT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Specialized functions create handoffs, delays, and rework.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1 · WHY PRODUCT DEVELOPMENT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THE COST OF HANDOFFS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Every handoff between specialized functions adds delay and a chance for rework.</a:t>
            </a:r>
          </a:p>
        </p:txBody>
      </p:sp>
      <p:sp>
        <p:nvSpPr>
          <p:cNvPr id="7" name="Hexagon 6"/>
          <p:cNvSpPr/>
          <p:nvPr/>
        </p:nvSpPr>
        <p:spPr>
          <a:xfrm>
            <a:off x="640080" y="3200400"/>
            <a:ext cx="1589532" cy="1371600"/>
          </a:xfrm>
          <a:prstGeom prst="hexagon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Requirements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38756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2503932" y="3200400"/>
            <a:ext cx="1589532" cy="1371600"/>
          </a:xfrm>
          <a:prstGeom prst="hexagon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Systems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02607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4367784" y="3200400"/>
            <a:ext cx="1589532" cy="1371600"/>
          </a:xfrm>
          <a:prstGeom prst="hexagon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6459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6231636" y="3200400"/>
            <a:ext cx="1589532" cy="1371600"/>
          </a:xfrm>
          <a:prstGeom prst="hexagon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Development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30311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095487" y="3200400"/>
            <a:ext cx="1589532" cy="1371600"/>
          </a:xfrm>
          <a:prstGeom prst="hexagon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94163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959340" y="3200400"/>
            <a:ext cx="1589532" cy="1371600"/>
          </a:xfrm>
          <a:prstGeom prst="hexagon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Release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WORD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What slows product delivery the most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WHY SPECIALIZATION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Risk reduction, compliance, and deep expertise — good reasons that no longer scale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AI AS CAPABILITY AMPLIFICATION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AI makes expertise available at the point of need — it augments specialists, not replaces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2 · WHAT AI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FUTURE-STATE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A small, cross-functional team does what used to need six.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383280"/>
            <a:ext cx="2926080" cy="118872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Product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383280"/>
            <a:ext cx="777240" cy="11887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000" b="1" i="0">
                <a:solidFill>
                  <a:srgbClr val="256E8E"/>
                </a:solidFill>
                <a:latin typeface="Arial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3383280"/>
            <a:ext cx="2926080" cy="118872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83280"/>
            <a:ext cx="777240" cy="11887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3000" b="1" i="0">
                <a:solidFill>
                  <a:srgbClr val="256E8E"/>
                </a:solidFill>
                <a:latin typeface="Arial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3383280"/>
            <a:ext cx="2926080" cy="11887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000" b="1" i="0">
                <a:solidFill>
                  <a:srgbClr val="1B1B1B"/>
                </a:solidFill>
                <a:latin typeface="Arial"/>
              </a:rPr>
              <a:t>AI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6070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Arial"/>
              </a:rPr>
              <a:t>One small, cross-functional product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2103120"/>
            <a:ext cx="5120640" cy="5120640"/>
          </a:xfrm>
          <a:prstGeom prst="ellipse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64240" y="3566160"/>
            <a:ext cx="4206240" cy="4206240"/>
          </a:xfrm>
          <a:prstGeom prst="ellipse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INDUSTRIAL DEVOPS 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THE LIVE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82296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463040" cy="54864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9144000" cy="1645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Driver Monitoring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8503920" cy="1280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D8E6F7"/>
                </a:solidFill>
                <a:latin typeface="Arial"/>
              </a:rPr>
              <a:t>Detect drowsy, distracted, or medical-emergency states — and respond safely.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828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D8E6F7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CUSTOMER NEED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Protect a tired or distracted driver — without constant false alarms.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1 —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1 — Requirements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You are a senior automotive systems engineer. Design a Driver Monitoring System (DMS) that detects when a driver is drowsy, distracted, or in a medical emergency — and responds appropriately.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Generate: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Stakeholder needs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Functional requirements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Non-functional requirements (latency, accuracy, privacy)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Constraints &amp; assumptions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Acceptance criteria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Format the output as a requirements specification.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41264"/>
            <a:ext cx="108813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1">
                <a:solidFill>
                  <a:srgbClr val="256E8E"/>
                </a:solidFill>
                <a:latin typeface="Arial"/>
              </a:rPr>
              <a:t>Ask the room:   What's missing? What would you challenge?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2 —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2 — Architecture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Using the approved requirements, create a concise architecture description: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System context diagram (in text)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Major components: sensors, perception/AI, decision logic, HMI, vehicle interface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Interfaces &amp; data flows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Failure modes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Safety considerations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Privacy &amp; cybersecurity considerations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41264"/>
            <a:ext cx="108813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1">
                <a:solidFill>
                  <a:srgbClr val="256E8E"/>
                </a:solidFill>
                <a:latin typeface="Arial"/>
              </a:rPr>
              <a:t>Ask the room:   Where could this go wrong, and how does it stay safe?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3 — MODEL (SYSML V2)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3 — SysML v2 Model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Using the architecture, generate a simple SysML v2 textual model: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Requirements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Actions / functions (DetectDrowsiness, AssessConfidence, TriggerResponse)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Interfaces / flows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Major system elements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Focus on readability, not tool-specific correctness.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41264"/>
            <a:ext cx="108813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1">
                <a:solidFill>
                  <a:srgbClr val="256E8E"/>
                </a:solidFill>
                <a:latin typeface="Arial"/>
              </a:rPr>
              <a:t>Ask the room:   See how it traces back to the requirements.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4 — TESTS &amp; TRACEABILITY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4 — Test Development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Create: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Verification strategy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Functional test cases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Edge cases (sunglasses, darkness, head turned, passenger interference)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Negative cases (false-positive drowsiness)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Requirements-to-test traceability matrix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Include objective pass/fail criteria.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41264"/>
            <a:ext cx="108813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1">
                <a:solidFill>
                  <a:srgbClr val="256E8E"/>
                </a:solidFill>
                <a:latin typeface="Arial"/>
              </a:rPr>
              <a:t>Ask the room:   Which test would you most want to pass before shipping?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MULTIPLE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Which SDLC activity benefited most from AI so far?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5–6 — IMPLEMENTATION &amp;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Prompts 5–6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5321808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481888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5 — Implementation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4809744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4809744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Generate: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High-level implementation approach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Pseudocode for the detect-assess-respond loop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Logic flow &amp; data processing steps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Assumptions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Explain how it satisfies the requirements.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901952"/>
            <a:ext cx="5321808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029968"/>
            <a:ext cx="4818888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6 — Verification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55664" y="2414016"/>
            <a:ext cx="4809744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2523744"/>
            <a:ext cx="4809744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Review the implementation. Identify: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Requirements satisfied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Tests that would pass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Potential defects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Risks (false alarms, missed detections)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•  Recommended improvements</a:t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300" b="0" i="0">
                <a:solidFill>
                  <a:srgbClr val="1B1B1B"/>
                </a:solidFill>
                <a:latin typeface="Arial"/>
              </a:rPr>
              <a:t>Provide a pass/fail assessment.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41264"/>
            <a:ext cx="108813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1">
                <a:solidFill>
                  <a:srgbClr val="256E8E"/>
                </a:solidFill>
                <a:latin typeface="Arial"/>
              </a:rPr>
              <a:t>Ask the room:   Where does human expertise make the final call?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3 · LIVE DMS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STEP 7 —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52560" y="566928"/>
            <a:ext cx="2496312" cy="50292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▶  Run Prompt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10881360" cy="35204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1037844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256E8E"/>
                </a:solidFill>
                <a:latin typeface="Arial"/>
              </a:rPr>
              <a:t>▶  Prompt 7 — Deployment Planning  — paste into the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414016"/>
            <a:ext cx="10369296" cy="1645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523744"/>
            <a:ext cx="10369296" cy="2743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Create: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OTA deployment plan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Rollback strategy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Monitoring metrics (accuracy, false-alarm rate, driver trust)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Release notes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Customer impact assessment</a:t>
            </a:r>
          </a:p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•  Success criteria after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41264"/>
            <a:ext cx="108813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00" b="1" i="1">
                <a:solidFill>
                  <a:srgbClr val="256E8E"/>
                </a:solidFill>
                <a:latin typeface="Arial"/>
              </a:rPr>
              <a:t>Ask the room:   How many teams would this normally take?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THE DIGITAL THREAD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1B1B1B"/>
                </a:solidFill>
                <a:latin typeface="Arial"/>
              </a:rPr>
              <a:t>One connected, auditable trail — created by a single team in minutes.</a:t>
            </a:r>
          </a:p>
        </p:txBody>
      </p:sp>
      <p:sp>
        <p:nvSpPr>
          <p:cNvPr id="7" name="Hexagon 6"/>
          <p:cNvSpPr/>
          <p:nvPr/>
        </p:nvSpPr>
        <p:spPr>
          <a:xfrm>
            <a:off x="640080" y="3200400"/>
            <a:ext cx="1589532" cy="1371600"/>
          </a:xfrm>
          <a:prstGeom prst="hexagon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Need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38756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2503932" y="3200400"/>
            <a:ext cx="1589532" cy="1371600"/>
          </a:xfrm>
          <a:prstGeom prst="hexagon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Requirement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02607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4367784" y="3200400"/>
            <a:ext cx="1589532" cy="1371600"/>
          </a:xfrm>
          <a:prstGeom prst="hexagon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6459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6231636" y="3200400"/>
            <a:ext cx="1589532" cy="1371600"/>
          </a:xfrm>
          <a:prstGeom prst="hexagon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30311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095487" y="3200400"/>
            <a:ext cx="1589532" cy="1371600"/>
          </a:xfrm>
          <a:prstGeom prst="hexagon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94163" y="3794760"/>
            <a:ext cx="237744" cy="182880"/>
          </a:xfrm>
          <a:prstGeom prst="rightArrow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9959340" y="3200400"/>
            <a:ext cx="1589532" cy="1371600"/>
          </a:xfrm>
          <a:prstGeom prst="hexagon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TRADITIONAL VS. AI-ENABLED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3774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256E8E"/>
                </a:solidFill>
                <a:latin typeface="Arial"/>
              </a:rPr>
              <a:t>Traditional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423160"/>
            <a:ext cx="8229600" cy="777240"/>
          </a:xfrm>
          <a:prstGeom prst="round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Months — sequential handoffs across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Arial"/>
              </a:rPr>
              <a:t>AI-Enabled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3886200"/>
            <a:ext cx="2377440" cy="7772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500" b="1" i="0">
                <a:solidFill>
                  <a:srgbClr val="1B1B1B"/>
                </a:solidFill>
                <a:latin typeface="Arial"/>
              </a:rPr>
              <a:t>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931920"/>
            <a:ext cx="548640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0" i="0">
                <a:solidFill>
                  <a:srgbClr val="1B1B1B"/>
                </a:solidFill>
                <a:latin typeface="Arial"/>
              </a:rPr>
              <a:t>— one small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Arial"/>
              </a:rPr>
              <a:t>Same rigor. A fraction of the calendar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4 · WHAT JUST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WHERE HUMANS STAYED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5143500" y="1600199"/>
            <a:ext cx="1874519" cy="1554480"/>
          </a:xfrm>
          <a:prstGeom prst="hexagon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Confidence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thresholds</a:t>
            </a:r>
          </a:p>
        </p:txBody>
      </p:sp>
      <p:sp>
        <p:nvSpPr>
          <p:cNvPr id="7" name="Hexagon 6"/>
          <p:cNvSpPr/>
          <p:nvPr/>
        </p:nvSpPr>
        <p:spPr>
          <a:xfrm>
            <a:off x="7321207" y="2400299"/>
            <a:ext cx="1874519" cy="1554480"/>
          </a:xfrm>
          <a:prstGeom prst="hexagon">
            <a:avLst/>
          </a:prstGeom>
          <a:solidFill>
            <a:srgbClr val="1C5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aggressiveness</a:t>
            </a:r>
          </a:p>
        </p:txBody>
      </p:sp>
      <p:sp>
        <p:nvSpPr>
          <p:cNvPr id="8" name="Hexagon 7"/>
          <p:cNvSpPr/>
          <p:nvPr/>
        </p:nvSpPr>
        <p:spPr>
          <a:xfrm>
            <a:off x="7321207" y="4000500"/>
            <a:ext cx="1874519" cy="1554480"/>
          </a:xfrm>
          <a:prstGeom prst="hexagon">
            <a:avLst/>
          </a:prstGeom>
          <a:solidFill>
            <a:srgbClr val="216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Bias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checks</a:t>
            </a:r>
          </a:p>
        </p:txBody>
      </p:sp>
      <p:sp>
        <p:nvSpPr>
          <p:cNvPr id="9" name="Hexagon 8"/>
          <p:cNvSpPr/>
          <p:nvPr/>
        </p:nvSpPr>
        <p:spPr>
          <a:xfrm>
            <a:off x="5143500" y="4800600"/>
            <a:ext cx="1874519" cy="1554480"/>
          </a:xfrm>
          <a:prstGeom prst="hexagon">
            <a:avLst/>
          </a:prstGeom>
          <a:solidFill>
            <a:srgbClr val="27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Accountability</a:t>
            </a:r>
          </a:p>
        </p:txBody>
      </p:sp>
      <p:sp>
        <p:nvSpPr>
          <p:cNvPr id="10" name="Hexagon 9"/>
          <p:cNvSpPr/>
          <p:nvPr/>
        </p:nvSpPr>
        <p:spPr>
          <a:xfrm>
            <a:off x="2965792" y="4000500"/>
            <a:ext cx="1874519" cy="1554480"/>
          </a:xfrm>
          <a:prstGeom prst="hexagon">
            <a:avLst/>
          </a:prstGeom>
          <a:solidFill>
            <a:srgbClr val="2C7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Governance</a:t>
            </a:r>
          </a:p>
        </p:txBody>
      </p:sp>
      <p:sp>
        <p:nvSpPr>
          <p:cNvPr id="11" name="Hexagon 10"/>
          <p:cNvSpPr/>
          <p:nvPr/>
        </p:nvSpPr>
        <p:spPr>
          <a:xfrm>
            <a:off x="2965792" y="2400299"/>
            <a:ext cx="1874519" cy="1554480"/>
          </a:xfrm>
          <a:prstGeom prst="hexagon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Reviews</a:t>
            </a:r>
          </a:p>
        </p:txBody>
      </p:sp>
      <p:sp>
        <p:nvSpPr>
          <p:cNvPr id="12" name="Hexagon 11"/>
          <p:cNvSpPr/>
          <p:nvPr/>
        </p:nvSpPr>
        <p:spPr>
          <a:xfrm>
            <a:off x="5143500" y="3200399"/>
            <a:ext cx="1874519" cy="1554480"/>
          </a:xfrm>
          <a:prstGeom prst="hexag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Humans</a:t>
            </a:r>
          </a:p>
          <a:p>
            <a:pPr algn="ctr"/>
            <a:r>
              <a:rPr sz="1300" b="1" i="0">
                <a:solidFill>
                  <a:srgbClr val="1B1B1B"/>
                </a:solidFill>
                <a:latin typeface="Arial"/>
              </a:rPr>
              <a:t>in the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  <a:latin typeface="Arial"/>
              </a:rPr>
              <a:t>AI assisted. People decided.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3657600" cy="548640"/>
          </a:xfrm>
          <a:prstGeom prst="round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400" b="1" i="0">
                <a:solidFill>
                  <a:srgbClr val="1B1B1B"/>
                </a:solidFill>
                <a:latin typeface="Arial"/>
              </a:rPr>
              <a:t>▶  MENTIMETER  ·  POLL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058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7955279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>
                <a:solidFill>
                  <a:srgbClr val="256E8E"/>
                </a:solidFill>
                <a:latin typeface="Arial"/>
              </a:rPr>
              <a:t>Where would you pilot AI first?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2286000"/>
            <a:ext cx="2103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QR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join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600" b="0" i="0">
                <a:solidFill>
                  <a:srgbClr val="1B1B1B"/>
                </a:solidFill>
                <a:latin typeface="Arial"/>
              </a:rPr>
              <a:t>Join at menti.com — enter the code shown on screen.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5 · FUTURE-STATE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FUTURE OPERATING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106070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 i="0">
                <a:solidFill>
                  <a:srgbClr val="1B1B1B"/>
                </a:solidFill>
                <a:latin typeface="Arial"/>
              </a:rPr>
              <a:t>Outcome-oriented product teams, with specialists providing governance, standards, reviews, and exception handling.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38912"/>
            <a:ext cx="10515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Arial"/>
              </a:rPr>
              <a:t>ACT 5 · FUTURE-STATE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800" b="1" i="0">
                <a:solidFill>
                  <a:srgbClr val="174C63"/>
                </a:solidFill>
                <a:latin typeface="Arial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09344"/>
            <a:ext cx="1005840" cy="41148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76272"/>
            <a:ext cx="3383280" cy="1463040"/>
          </a:xfrm>
          <a:prstGeom prst="round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Smaller teams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76272"/>
            <a:ext cx="3383280" cy="1463040"/>
          </a:xfrm>
          <a:prstGeom prst="roundRect">
            <a:avLst/>
          </a:prstGeom>
          <a:solidFill>
            <a:srgbClr val="246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Faster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176272"/>
            <a:ext cx="3383280" cy="1463040"/>
          </a:xfrm>
          <a:prstGeom prst="roundRect">
            <a:avLst/>
          </a:prstGeom>
          <a:solidFill>
            <a:srgbClr val="328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Better 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05072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1" i="0">
                <a:solidFill>
                  <a:srgbClr val="1B1B1B"/>
                </a:solidFill>
                <a:latin typeface="Arial"/>
              </a:rPr>
              <a:t>Humans remain accountable throughout.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37376"/>
            <a:ext cx="10908792" cy="13716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Industrial DevOps Now  ·  AI-Powered Product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Arial"/>
              </a:rPr>
              <a:t>Mentimeter: menti.com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73952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595959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7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56048" y="1188720"/>
            <a:ext cx="2286000" cy="2286000"/>
          </a:xfrm>
          <a:prstGeom prst="ellipse">
            <a:avLst/>
          </a:prstGeom>
          <a:noFill/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6048" y="1280160"/>
            <a:ext cx="2286000" cy="2148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6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Questions  ·  Poll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09160"/>
            <a:ext cx="12191695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600" b="0" i="0">
                <a:solidFill>
                  <a:srgbClr val="D8E6F7"/>
                </a:solidFill>
                <a:latin typeface="Arial"/>
              </a:rPr>
              <a:t>What is the biggest opportunity?   —   join at menti.com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D8E6F7"/>
                </a:solidFill>
                <a:latin typeface="Arial"/>
              </a:rPr>
              <a:t>Industrial DevOps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55664"/>
            <a:ext cx="1490472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/>
            <a:r>
              <a:rPr sz="900" b="1" i="0">
                <a:solidFill>
                  <a:srgbClr val="D8E6F7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